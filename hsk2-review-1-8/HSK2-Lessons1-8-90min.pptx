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时间：00—01 分钟 · 本页1分钟</a:t>
            </a:r>
          </a:p>
          <a:p>
            <a:r>
              <a:t>教师提示：用中文欢迎学生。说明今天只复习上传材料的第1—8课，不提前讲第9课以后的结果补语、比、着、过等语法。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时间：01—02 分钟 · 本页1分钟</a:t>
            </a:r>
          </a:p>
          <a:p>
            <a:r>
              <a:t>教师提示：快速说明90分钟九个环节。目标是复用，不是把8课全部重讲。学生在讲义上记录最不熟悉的一项。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时间：02—05 分钟 · 本页3分钟</a:t>
            </a:r>
          </a:p>
          <a:p>
            <a:r>
              <a:t>教师提示：30秒独立想；90秒同桌互问；60秒抽问2—3人。只记录典型问题，不逐个纠正。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时间：05—08 分钟 · 本页3分钟</a:t>
            </a:r>
          </a:p>
          <a:p>
            <a:r>
              <a:t>教师提示：先齐读拼音和词语，再遮住越南语互问词义。每组只选择1—2个词口头造句。2分钟页不逐个抽读，优先核对学生不熟悉的词。词语均来自原文件前8课。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时间：08—11 分钟 · 本页3分钟</a:t>
            </a:r>
          </a:p>
          <a:p>
            <a:r>
              <a:t>教师提示：先齐读拼音和词语，再遮住越南语互问词义。每组只选择1—2个词口头造句。2分钟页不逐个抽读，优先核对学生不熟悉的词。词语均来自原文件前8课。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时间：11—13 分钟 · 本页2分钟</a:t>
            </a:r>
          </a:p>
          <a:p>
            <a:r>
              <a:t>教师提示：先齐读拼音和词语，再遮住越南语互问词义。每组只选择1—2个词口头造句。2分钟页不逐个抽读，优先核对学生不熟悉的词。词语均来自原文件前8课。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时间：13—15 分钟 · 本页2分钟</a:t>
            </a:r>
          </a:p>
          <a:p>
            <a:r>
              <a:t>教师提示：先齐读拼音和词语，再遮住越南语互问词义。每组只选择1—2个词口头造句。2分钟页不逐个抽读，优先核对学生不熟悉的词。词语均来自原文件前8课。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时间：15—18 分钟 · 本页3分钟</a:t>
            </a:r>
          </a:p>
          <a:p>
            <a:r>
              <a:t>教师提示：1分钟回顾：最＋形容词／表示喜好的动词；要＋动词可表示意愿或打算。1分钟学生替换旅游、踢足球、游泳；1分钟追问为什么。此处不讲“要……了”。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时间：18—22 分钟 · 本页4分钟</a:t>
            </a:r>
          </a:p>
          <a:p>
            <a:r>
              <a:t>教师提示：1分钟说明“每＋量词＋名词（＋都）”；1分钟区分“几＋量词＋名词”和“多＋形容词”；2分钟互问身高、作息。补充“你每天工作多长时间？”不使用原随记中的大数作为本课重点。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时间：22—26 分钟 · 本页4分钟</a:t>
            </a:r>
          </a:p>
          <a:p>
            <a:r>
              <a:t>教师提示：1分钟讲“是不是”确认，不再加“吗”；1分钟解释“红色的”省略上下文明确的名词；2分钟指着学生实际物品问答。提醒“的”不能随意省略。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时间：26—30 分钟 · 本页4分钟</a:t>
            </a:r>
          </a:p>
          <a:p>
            <a:r>
              <a:t>教师提示：各用约40秒说明三种结构，再用2分钟替换练习。“是……的”用于强调已发生事情的时间、地点、方式或相关人等；“的时候”表示某个时间情境；“已经……了”是常见表达，不把“已经”解释成所有情况下都必须带“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时间：30—34 分钟 · 本页4分钟</a:t>
            </a:r>
          </a:p>
          <a:p>
            <a:r>
              <a:t>教师提示：1分钟读对话，1分钟比较：有点儿＋形容词，形容词＋一点儿。后者可作比较或要求，如“小一点儿”；不说“有点儿很大”。2分钟两人替换颜色、大小、价格。这里“还”是评价尚可，不是“仍然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时间：34—38 分钟 · 本页4分钟</a:t>
            </a:r>
          </a:p>
          <a:p>
            <a:r>
              <a:t>教师提示：1分钟：“怎么不……了？”在情境中询问变化或原因；1分钟因果结构；1分钟量词重叠“个个”＝每一个，“天天”＝每天，常与都连用；1分钟学生用原因回答不吃、不去的问题。不说“每个个”。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时间：38—42 分钟 · 本页4分钟</a:t>
            </a:r>
          </a:p>
          <a:p>
            <a:r>
              <a:t>教师提示：1分钟A离B＋远／近，1分钟“时间＋就到”强调用时短；1分钟“还”表示仍然，“呢”加强正在持续的语气；1分钟同桌问答通勤。区分“还可以”和“还在学习”。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时间：42—45 分钟 · 本页3分钟</a:t>
            </a:r>
          </a:p>
          <a:p>
            <a:r>
              <a:t>教师提示：1分钟说明再表示后续尚未发生的动作，1分钟让＋人＋动词和动词重叠，1分钟练习礼貌请求。想想、看看、问问可缓和语气；不机械叠加成“想想一下”。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时间：45—49 分钟 · 本页4分钟</a:t>
            </a:r>
          </a:p>
          <a:p>
            <a:r>
              <a:t>教师提示：前2分钟独立作答，后2分钟与同桌说明理由。越南语提示在学生讲义。暂不显示答案；下一页统一讲评。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时间：49—53 分钟 · 本页4分钟</a:t>
            </a:r>
          </a:p>
          <a:p>
            <a:r>
              <a:t>教师提示：前2分钟独立作答，后2分钟与同桌说明理由。越南语提示在学生讲义。暂不显示答案；下一页统一讲评。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时间：53—55 分钟 · 本页2分钟</a:t>
            </a:r>
          </a:p>
          <a:p>
            <a:r>
              <a:t>教师提示：先10秒显示答案；用约90秒只讲全班错误最多的两题。每题完整解析见教师版。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时间：55—58 分钟 · 本页3分钟</a:t>
            </a:r>
          </a:p>
          <a:p>
            <a:r>
              <a:t>教师提示：1分钟独立写；1分钟两人核对；1分钟抽读。接受“每天我六点起床”等不改变意义的合理语序；不按唯一字面答案机械扣分。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时间：58—61 分钟 · 本页3分钟</a:t>
            </a:r>
          </a:p>
          <a:p>
            <a:r>
              <a:t>教师提示：1分钟独立写；1分钟两人核对；1分钟抽读。接受“每天我六点起床”等不改变意义的合理语序；不按唯一字面答案机械扣分。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时间：61—64 分钟 · 本页3分钟</a:t>
            </a:r>
          </a:p>
          <a:p>
            <a:r>
              <a:t>教师提示：给1分钟构思、1分钟写句子、1分钟同伴互查。只要求使用已学结构。不要先展示下一页答案。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时间：64—65 分钟 · 本页1分钟</a:t>
            </a:r>
          </a:p>
          <a:p>
            <a:r>
              <a:t>教师提示：快速核对，不逐句长讲。对合理的主语／时间词前后变化和同义表达予以认可。若错误较多，记录到课后补练，按时进入口语任务。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时间：65—67 分钟 · 本页2分钟</a:t>
            </a:r>
          </a:p>
          <a:p>
            <a:r>
              <a:t>教师提示：教师先用30秒示范购物问答；30秒分配角色；1分钟学生看两页任务卡并准备。准备时间已计入，不另外延长课程。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时间：67—72 分钟 · 本页5分钟</a:t>
            </a:r>
          </a:p>
          <a:p>
            <a:r>
              <a:t>教师提示：1分钟两人准备，3分钟交流并交换角色，1分钟抽一组展示。示范答案在教师版，不在学生任务卡上公开。评价只看任务完成、三个目标结构和基本清晰度。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时间：72—77 分钟 · 本页5分钟</a:t>
            </a:r>
          </a:p>
          <a:p>
            <a:r>
              <a:t>教师提示：1分钟准备，3分钟两人对话并交换角色，1分钟反馈。允许学生说自己的真实时间和地点，不要求背固定答案。避免扩展到第9课后的新语法。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时间：77—82 分钟 · 本页5分钟</a:t>
            </a:r>
          </a:p>
          <a:p>
            <a:r>
              <a:t>教师提示：学生独立完成，不交流、不看笔记。每题2分。越南语提示在讲义。前5题选择，6—8填空，9—10排序；答案在附录和教师版。第1页5分钟后切到下一页，不提前公布答案。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时间：82—87 分钟 · 本页5分钟</a:t>
            </a:r>
          </a:p>
          <a:p>
            <a:r>
              <a:t>教师提示：学生独立完成，不交流、不看笔记。每题2分。越南语提示在讲义。前5题选择，6—8填空，9—10排序；答案在附录和教师版。第1页5分钟后切到下一页，不提前公布答案。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时间：87—90 分钟 · 本页3分钟</a:t>
            </a:r>
          </a:p>
          <a:p>
            <a:r>
              <a:t>教师提示：1分钟公布小测答案并让学生自评；1分钟收集仍不明白的问题；1分钟布置4—6句短文。16—20分可进入下一课；12—15分补练错点；0—11分下次先用5分钟复习。仅为本次课堂反馈，不代表官方HSK分数。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时间：附录 · 不另占主课时</a:t>
            </a:r>
          </a:p>
          <a:p>
            <a:r>
              <a:t>教师提示：本页不占90分钟主课时，可在第28页反馈时切换查看。选择题和填空题按关键答案评分；排序整句结构与词语完整得2分，轻微标点或不影响理解的单字笔误可酌情得1分。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范围：原课件前8课。</a:t>
            </a:r>
          </a:p>
          <a:p>
            <a:r>
              <a:t>时间：附录 · 不另占主课时</a:t>
            </a:r>
          </a:p>
          <a:p>
            <a:r>
              <a:t>教师提示：可用于课后个别辅导。原材料含重复选项和正确句被列为纠错题等问题；本课已另编活动，避免保留这些歧义。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第1—8课 · 90分钟复习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ÔN TẬP BÀI 1–8 · 90 PHÚT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21408"/>
            <a:ext cx="1110996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200" b="1">
                <a:solidFill>
                  <a:srgbClr val="2476B5"/>
                </a:solidFill>
                <a:latin typeface="Noto Sans CJK SC"/>
              </a:defRPr>
            </a:pPr>
            <a:r>
              <a:t>Tiếng Trung Cô Nga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把学过的句型，变成能说出口的话。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100" b="0">
                <a:solidFill>
                  <a:srgbClr val="168078"/>
                </a:solidFill>
                <a:latin typeface="Noto Sans CJK SC"/>
              </a:defRPr>
            </a:pPr>
            <a:r>
              <a:t>Từ kiến thức đã học đến giao tiếp thực tế.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00—01 分钟 · 本页1分钟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01/30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123444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今天要完成什么？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Mục tiêu và lộ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会认：8个主题的40个核心词语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会用：购物、距离、原因、请求等句型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会说：与同伴完成2段情景对话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会查：完成20分小测，找到需要复习的内容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01—02 分钟 · 本页1分钟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02/30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24688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热身：不用看书，试着回答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Khởi động: trả lời không nhìn sách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你最喜欢什么运动？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zuì xǐ huan shén me yùn dòng 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Bạn thích môn thể thao nào nhất?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你每天几点起床？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měi tiān jǐ diǎn qǐ chuáng 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Mỗi ngày bạn thức dậy lúc mấy giờ?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你家离公司远吗？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jiā lí gōng sī yuǎn ma 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Nhà bạn cách công ty xa không?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02—05 分钟 · 本页3分钟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03/30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61722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词语回顾 · 第1—2课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Từ vựng: đọc – nhớ – đặt câu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第1课 · 九月去北京旅游最好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旅游  lǚ yóu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du lịch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踢足球  tī zú qiú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đá bóng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觉得  jué de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cảm thấy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一起  yì qǐ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cùng nhau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最  zuì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nhất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第2课 · 我每天六点起床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起床  qǐ chuáng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thức dậy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跑步  pǎo bù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chạy bộ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休息  xiū xi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nghỉ ngơi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身体  shēn tǐ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cơ thể; sức khỏe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时间  shí jiān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thời gian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05—08 分钟 · 本页3分钟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04/30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6693408"/>
            <a:ext cx="987552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词语回顾 · 第3—4课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Từ vựng: đọc – nhớ – đặt câu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第3课 · 左边那个红色的是我的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手表  shǒu biǎo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đồng hồ đeo 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旁边  páng biān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bên cạnh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颜色  yán sè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màu sắc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左边  zuǒ biān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bên trái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房间  fáng jiān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phòng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第4课 · 这个工作是他帮我介绍的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生日  shēng rì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sinh nhật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开始  kāi shǐ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bắt đầu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已经  yǐ jīng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đã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帮  bāng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giúp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介绍  jiè shào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giới thiệu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08—11 分钟 · 本页3分钟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05/30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6693408"/>
            <a:ext cx="1357884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词语回顾 · 第5—6课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Từ vựng: đọc – nhớ – đặt câu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第5课 · 就买这件吧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准备  zhǔn bèi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chuẩn bị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不错  bù cuò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khá tốt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考试  kǎo shì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kỳ thi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咖啡  kā fēi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cà phê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件  jiàn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lượng từ cho quần áo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第6课 · 你怎么不吃了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因为  yīn wèi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bởi vì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所以  suǒ yǐ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cho nên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游泳  yóu yǒng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bơi lội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公斤  gōng jīn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ki-lô-gam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面条  miàn tiáo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mì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11—13 分钟 · 本页2分钟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06/30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6693408"/>
            <a:ext cx="1604772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词语回顾 · 第7—8课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Từ vựng: đọc – nhớ – đặt câu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第7课 · 你家离公司远吗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小时  xiǎo shí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giờ; tiếng đồng hồ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机场  jī chǎng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sân bay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离  lí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cách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远  yuǎn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公共汽车  gōng gòng qì chē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xe buýt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93392"/>
            <a:ext cx="5458968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4884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2476B5"/>
                </a:solidFill>
                <a:latin typeface="Noto Sans CJK SC"/>
              </a:defRPr>
            </a:pPr>
            <a:r>
              <a:t>第8课 · 让我想想再告诉你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7249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再  zài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rồi; lại, trong hành động chưa xảy 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36499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让  ràng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để; bảo, cho phép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00507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告诉  gào su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nói cho biết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64515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等  děng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đợi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5285231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事情  shì qing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sự việc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13—15 分钟 · 本页2分钟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07/30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6693408"/>
            <a:ext cx="185166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最／要：喜好与计划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Sở thích và dự định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我最喜欢旅游。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wǒ zuì xǐ huan lǚ yóu 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Tôi thích đi du lịch nhất.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明天我要和朋友一起去北京。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míng tiān wǒ yào hé péng you yì qǐ qù běi jīng 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Ngày mai tôi muốn đi Bắc Kinh cùng bạn.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你为什么要学习中文？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wèi shén me yào xué xí zhōng wén 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Tại sao bạn muốn học tiếng Trung?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15—18 分钟 · 本页3分钟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08/30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2221992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每／几／多：作息、数量、度量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Mỗi; mấy; hỏi mức độ và số đo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我每天六点起床。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wǒ měi tiān liù diǎn qǐ chuáng 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Mỗi ngày tôi thức dậy lúc sáu giờ.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你每天喝几杯咖啡？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měi tiān hē jǐ bēi kā fēi 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Mỗi ngày bạn uống mấy cốc cà phê?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你多高？我一米七。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duō gāo ？ wǒ yī mǐ qī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Bạn cao bao nhiêu? Tôi cao một mét bảy.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18—22 分钟 · 本页4分钟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09/30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271576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是不是／的：确认与指代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Xác nhận và thay thế danh từ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你是不是每天六点起床？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shì bu shì měi tiān liù diǎn qǐ chuáng 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Có phải ngày nào bạn cũng thức dậy lúc sáu giờ không?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左边那个红色的是我的。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zuǒ biān nà ge hóng sè de shì wǒ de 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Cái màu đỏ ở bên trái là của tôi.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这个杯子是你的吗？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zhè ge bēi zi shì nǐ de ma 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Cốc này là của bạn phải không?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22—26 分钟 · 本页4分钟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10/30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3209544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是……的／的时候／已经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Nhấn mạnh; khi; đã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这份工作是朋友帮我介绍的。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zhè fèn gōng zuò shì péng you bāng wǒ jiè shào de 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Công việc này do bạn giới thiệu giúp tôi.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我休息的时候喜欢听音乐。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wǒ xiū xi de shí hou xǐ huan tīng yīn yuè 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Khi nghỉ ngơi tôi thích nghe nhạc.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我已经吃饭了。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wǒ yǐ jīng chī fàn le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Tôi đã ăn cơm rồi.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26—30 分钟 · 本页4分钟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11/30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370332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就／还／有点儿：选购与评价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Lựa chọn và nhận xét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就买这件吧。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jiù mǎi zhè jiàn ba 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Vậy thì mua chiếc này đi.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这件衣服颜色还可以。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zhè jiàn yī fu yán sè hái kě yǐ 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Màu của bộ quần áo này cũng tạm được.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就是有点儿大。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jiù shì yǒu diǎn ér dà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Chỉ là hơi rộng một chút.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30—34 分钟 · 本页4分钟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12/30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4197096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怎么／因为……所以……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Hỏi lý do và nói nguyên nhân – kết quả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你怎么不吃了？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zěn me bù chī le 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Sao bạn không ăn nữa?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因为今天下雨，所以我们不去踢足球。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yīn wèi jīn tiān xià yǔ ， suǒ yǐ wǒ men bù qù tī zú qiú 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Vì hôm nay trời mưa nên chúng tôi không đi đá bóng.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这些苹果个个都好吃。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zhè xiē píng guǒ gè gè dōu hǎo chī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Những quả táo này quả nào cũng ngon.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34—38 分钟 · 本页4分钟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13/30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4690872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离／就／还……呢：距离与持续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Khoảng cách và trạng thái vẫn tiếp diễn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我家离公司不远。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wǒ jiā lí gōng sī bù yuǎn 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Nhà tôi cách công ty không xa.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坐公共汽车十分钟就到。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zuò gōng gòng qì chē shí fēn zhōng jiù dào 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Đi xe buýt mười phút là đến.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他还在教室学习呢。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tā hái zài jiào shì xué xí ne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Anh ấy vẫn đang học trong lớp.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38—42 分钟 · 本页4分钟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14/30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518464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再／让／动词重叠／好吗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Trình tự và lời đề nghị nhẹ nhàng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让我想想再告诉你。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ràng wǒ xiǎng xiǎng zài gào su nǐ 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Để tôi nghĩ rồi nói cho bạn.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你等我一下，好吗？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nǐ děng wǒ yí xià ， hǎo ma 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78224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Bạn đợi tôi một chút, được không?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81144"/>
            <a:ext cx="11109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10652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500" b="1">
                <a:solidFill>
                  <a:srgbClr val="173B53"/>
                </a:solidFill>
                <a:latin typeface="Noto Sans CJK SC"/>
              </a:defRPr>
            </a:pPr>
            <a:r>
              <a:t>请帮我问问老师。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023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2476B5"/>
                </a:solidFill>
                <a:latin typeface="Noto Sans CJK SC"/>
              </a:defRPr>
            </a:pPr>
            <a:r>
              <a:t>qǐng bāng wǒ wèn wèn lǎo shī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85816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600" b="0">
                <a:solidFill>
                  <a:srgbClr val="168078"/>
                </a:solidFill>
                <a:latin typeface="Noto Sans CJK SC"/>
              </a:defRPr>
            </a:pPr>
            <a:r>
              <a:t>Vui lòng giúp tôi hỏi thầy cô một chút.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42—45 分钟 · 本页3分钟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15/30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693408"/>
            <a:ext cx="555498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课堂选择题 · 1—4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Chọn đáp án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01  我___喜欢旅游。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41894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也　B. 最　C. 一起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6372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02  你___高？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52306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几　B. 多　C. 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86783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03  左边那个红色___是我的。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62718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的　B. 地　C. 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97196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04  这份工作___我朋友帮我介绍的。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573130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在　B. 是　C. 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45—49 分钟 · 本页4分钟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16/30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693408"/>
            <a:ext cx="6048756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课堂选择题 · 5—8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Chọn đáp án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05  这件衣服颜色不错，就是___大。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41894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有点儿　B. 一点儿　C. 很多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6372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06  ___今天下雨，所以我们不去踢足球。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52306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因为　B. 但是　C. 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86783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07  我家___公司不远。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62718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给　B. 让　C. 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97196"/>
            <a:ext cx="10881360" cy="575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08  请等我一下，我想想___告诉你。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573130"/>
            <a:ext cx="10652760" cy="40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A. 再　B. 在　C. 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49—53 分钟 · 本页4分钟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17/30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693408"/>
            <a:ext cx="6542532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选择题核对：说出理由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Đối chiếu và giải thích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1 B 最　　2 B 多　　3 A 的　　4 B 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5 A 有点儿　6 A 因为　7 C 离　8 A 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重点：有点儿大 ≠ 一点儿大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重点：再＝下一步；在＝地点或动作状态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53—55 分钟 · 本页2分钟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18/30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678942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句子排序 · 1—3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Sắp xếp từ thành câu hoàn chỉnh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81360" cy="76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01  六点 / 起床 / 每天 / 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33873"/>
            <a:ext cx="10652760" cy="53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Mỗi ngày tôi thức dậy lúc sáu giờ.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13175"/>
            <a:ext cx="10881360" cy="76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02  我的 / 那个 / 是 / 红色的杯子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81089"/>
            <a:ext cx="10652760" cy="53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Cốc màu đỏ kia là của tôi.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0392"/>
            <a:ext cx="10881360" cy="76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03  朋友 / 是 / 帮我介绍的 / 这份工作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28305"/>
            <a:ext cx="10652760" cy="53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Công việc này do bạn giới thiệu giúp tôi.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55—58 分钟 · 本页3分钟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19/30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693408"/>
            <a:ext cx="7159752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句子排序 · 4—6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Sắp xếp từ thành câu hoàn chỉnh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81360" cy="76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04  所以 / 我们 / 因为今天下雨 / 不去踢足球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33873"/>
            <a:ext cx="10652760" cy="53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Vì hôm nay trời mưa nên chúng tôi không đi đá bóng.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13175"/>
            <a:ext cx="10881360" cy="76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05  离公司 / 不远 / 我家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81089"/>
            <a:ext cx="10652760" cy="53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Nhà tôi cách công ty không xa.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0392"/>
            <a:ext cx="10881360" cy="76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06  告诉你 / 再 / 让我 / 想想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28305"/>
            <a:ext cx="10652760" cy="538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Để tôi nghĩ rồi nói cho bạn.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58—61 分钟 · 本页3分钟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20/30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693408"/>
            <a:ext cx="7530083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中越转换：两句实用话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Dịch sang tiếng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81360" cy="11518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01  Bạn đợi tôi một chút, được không?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17829"/>
            <a:ext cx="10652760" cy="808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用到：一下／好吗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86783"/>
            <a:ext cx="10881360" cy="11518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173B53"/>
                </a:solidFill>
                <a:latin typeface="Noto Sans CJK SC"/>
              </a:defRPr>
            </a:pPr>
            <a:r>
              <a:t>02  Nhà tôi cách công ty không xa, đi xe buýt mười phút là đến.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38653"/>
            <a:ext cx="10652760" cy="808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2476B5"/>
                </a:solidFill>
                <a:latin typeface="Noto Sans CJK SC"/>
              </a:defRPr>
            </a:pPr>
            <a:r>
              <a:t>用到：离／公共汽车／就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61—64 分钟 · 本页3分钟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21/30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7900416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排序与翻译 · 快速核对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Đáp án tham khảo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1. 我每天六点起床。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6035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2. 那个红色的杯子是我的。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74670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3. 这份工作是朋友帮我介绍的。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83305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4. 因为今天下雨，所以我们不去踢足球。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91939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5. 我家离公司不远。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00575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6. 让我想想再告诉你。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09210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译1. 你等我一下，好吗？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17845"/>
            <a:ext cx="10744200" cy="4537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800" b="0">
                <a:solidFill>
                  <a:srgbClr val="173B53"/>
                </a:solidFill>
                <a:latin typeface="Noto Sans CJK SC"/>
              </a:defRPr>
            </a:pPr>
            <a:r>
              <a:t>• 译2. 我家离公司不远，坐公共汽车十分钟就到。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64—65 分钟 · 本页1分钟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22/30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693408"/>
            <a:ext cx="802386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双人任务：轮流说，互相听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Làm việc theo cặp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A先提问，B回答；完成后交换角色。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每段至少用3个指定句型。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同伴检查：句型对了吗？意思清楚吗？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老师关注：最／的／有点儿／因为／离／再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65—67 分钟 · 本页2分钟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23/30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827074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情景A：买一件衣服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Tình huống A: mua quần 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顾客：问颜色、大小，选定一件。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店员：介绍左边／旁边的衣服。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必须用：红色的／还可以／有点儿／就……吧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提示：这件怎么样？→颜色还可以……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67—72 分钟 · 本页5分钟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24/30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888796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情景B：周末去运动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Tình huống B: rủ bạn đi chơi thể thao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A：问喜好、明天安排和路程。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B：回答原因，并请对方等一下。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必须用：最／因为……所以……／离／再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提示：你最喜欢……？你家离……远吗？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72—77 分钟 · 本页5分钟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25/30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950518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离堂小测 · 1—5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Tự làm · mỗi câu 2 điểm · tổng 20 điểm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01  我___喜欢游泳。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26707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A. 一起　B. 最　C. 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74289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02  我___都六点起床。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35037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A. 每天　B. 每　C. 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82619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03  左边那个白色___是我的。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43367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A. 得　B. 地　C. 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90948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04  我___吃饭了。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51696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A. 再　B. 已经　C. 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99278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05  下雨了，___我们不去跑步。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660026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A. 因为　B. 所以　C. 但是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77—82 分钟 · 本页5分钟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26/30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6693408"/>
            <a:ext cx="1012240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离堂小测 · 6—10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Tự làm · mỗi câu 2 điểm · tổng 20 điểm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06  我家___学校很近。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26707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填一个词 / Điền một từ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74289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07  这件衣服___大。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35037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填写“有点儿”或“一点儿” / Chọn một cụm từ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82619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08  他还在教室学习___。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43367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填一个语气词 / Điền trợ từ ngữ khí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90948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09  吧 / 就 / 这件 / 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51696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排列成句 / Sắp xếp câu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99278"/>
            <a:ext cx="10881360" cy="460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173B53"/>
                </a:solidFill>
                <a:latin typeface="Noto Sans CJK SC"/>
              </a:defRPr>
            </a:pPr>
            <a:r>
              <a:t>10  想想 / 告诉你 / 让我 / 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660026"/>
            <a:ext cx="10652760" cy="3233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500" b="0">
                <a:solidFill>
                  <a:srgbClr val="2476B5"/>
                </a:solidFill>
                <a:latin typeface="Noto Sans CJK SC"/>
              </a:defRPr>
            </a:pPr>
            <a:r>
              <a:t>排列成句 / Sắp xếp câu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82—87 分钟 · 本页5分钟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27/30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6693408"/>
            <a:ext cx="10739628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今天我会了什么？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Tổng kết và tự đánh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说一句：今天我会用“______”了。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问一个：我还不明白“______”。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课后：用4—6句话介绍周末计划。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至少用：最、因为……所以……、离、再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87—90 分钟 · 本页3分钟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28/30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附录 · 小测参考答案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Đáp án kiểm tra cuối buổi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1 B 最　2 A 每天　3 C 的　4 B 已经　5 B 所以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6 离　7 有点儿　8 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9 就买这件吧。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10 让我想想再告诉你。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02936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每题2分，共20分；排序接受合理标点变化。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附录 · 不另占主课时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29/30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17C90"/>
                </a:solidFill>
                <a:latin typeface="Noto Sans CJK SC"/>
              </a:defRPr>
            </a:pPr>
            <a:r>
              <a:t>Tiếng Trung Cô Nga  /  HSK2 · 第1—8课复习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3000" b="1">
                <a:solidFill>
                  <a:srgbClr val="173B53"/>
                </a:solidFill>
                <a:latin typeface="Noto Sans CJK SC"/>
              </a:defRPr>
            </a:pPr>
            <a:r>
              <a:t>附录 · 最容易混淆的四组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700" b="0">
                <a:solidFill>
                  <a:srgbClr val="168078"/>
                </a:solidFill>
                <a:latin typeface="Noto Sans CJK SC"/>
              </a:defRPr>
            </a:pPr>
            <a:r>
              <a:t>Bốn điểm cần phân biệt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有点儿大：略大，不太满意；小一点儿：要求更小。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43784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还可以：尚可；还在学习：仍然在学习。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就买这件吧：选定；十分钟就到：用时短。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16552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2300" b="0">
                <a:solidFill>
                  <a:srgbClr val="173B53"/>
                </a:solidFill>
                <a:latin typeface="Noto Sans CJK SC"/>
              </a:defRPr>
            </a:pPr>
            <a:r>
              <a:t>• 再告诉你：之后再说；在教室：表示地点。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45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附录 · 不另占主课时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459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17C90"/>
                </a:solidFill>
                <a:latin typeface="Noto Sans CJK SC"/>
              </a:defRPr>
            </a:pPr>
            <a:r>
              <a:t>30/30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93408"/>
            <a:ext cx="11109960" cy="32004"/>
          </a:xfrm>
          <a:prstGeom prst="rect">
            <a:avLst/>
          </a:prstGeom>
          <a:solidFill>
            <a:srgbClr val="247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